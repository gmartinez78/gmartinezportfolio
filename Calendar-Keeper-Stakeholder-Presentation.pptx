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d1d22af8a84783" /><Relationship Type="http://schemas.openxmlformats.org/officeDocument/2006/relationships/extended-properties" Target="/docProps/app.xml" Id="R5fd9c6b6fb704204" /><Relationship Type="http://schemas.openxmlformats.org/officeDocument/2006/relationships/officeDocument" Target="/ppt/presentation.xml" Id="Rb8f5502a224b4b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fb8a1de36147a6"/>
  </p:sldMasterIdLst>
  <p:notesMasterIdLst>
    <p:notesMasterId xmlns:r="http://schemas.openxmlformats.org/officeDocument/2006/relationships" r:id="R495d5ee5ece540cd"/>
  </p:notesMasterIdLst>
  <p:sldIdLst>
    <p:sldId xmlns:r="http://schemas.openxmlformats.org/officeDocument/2006/relationships" id="256" r:id="R21aaf17eea924280"/>
    <p:sldId xmlns:r="http://schemas.openxmlformats.org/officeDocument/2006/relationships" id="257" r:id="Rb8f46895e5894f91"/>
    <p:sldId xmlns:r="http://schemas.openxmlformats.org/officeDocument/2006/relationships" id="258" r:id="R49cc30f8a6524996"/>
    <p:sldId xmlns:r="http://schemas.openxmlformats.org/officeDocument/2006/relationships" id="259" r:id="R4918de618c7e41fa"/>
    <p:sldId xmlns:r="http://schemas.openxmlformats.org/officeDocument/2006/relationships" id="260" r:id="Rd407ebe882344b4c"/>
    <p:sldId xmlns:r="http://schemas.openxmlformats.org/officeDocument/2006/relationships" id="261" r:id="R243c08a5c52f4d06"/>
    <p:sldId xmlns:r="http://schemas.openxmlformats.org/officeDocument/2006/relationships" id="262" r:id="R3f2ef738d3ed4d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c84fab8b8240ed" /><Relationship Type="http://schemas.openxmlformats.org/officeDocument/2006/relationships/slideMaster" Target="/ppt/slideMasters/slideMaster1.xml" Id="Rcefb8a1de36147a6" /><Relationship Type="http://schemas.openxmlformats.org/officeDocument/2006/relationships/notesMaster" Target="/ppt/notesMasters/notesMaster1.xml" Id="R495d5ee5ece540cd" /><Relationship Type="http://schemas.openxmlformats.org/officeDocument/2006/relationships/presProps" Target="/ppt/presProps.xml" Id="R24c7362f1e0d44e4" /><Relationship Type="http://schemas.openxmlformats.org/officeDocument/2006/relationships/tableStyles" Target="/ppt/tableStyles.xml" Id="R50d07aa2f16041ab" /><Relationship Type="http://schemas.openxmlformats.org/officeDocument/2006/relationships/slide" Target="/ppt/slides/slide1.xml" Id="R21aaf17eea924280" /><Relationship Type="http://schemas.openxmlformats.org/officeDocument/2006/relationships/slide" Target="/ppt/slides/slide2.xml" Id="Rb8f46895e5894f91" /><Relationship Type="http://schemas.openxmlformats.org/officeDocument/2006/relationships/slide" Target="/ppt/slides/slide3.xml" Id="R49cc30f8a6524996" /><Relationship Type="http://schemas.openxmlformats.org/officeDocument/2006/relationships/slide" Target="/ppt/slides/slide4.xml" Id="R4918de618c7e41fa" /><Relationship Type="http://schemas.openxmlformats.org/officeDocument/2006/relationships/slide" Target="/ppt/slides/slide5.xml" Id="Rd407ebe882344b4c" /><Relationship Type="http://schemas.openxmlformats.org/officeDocument/2006/relationships/slide" Target="/ppt/slides/slide6.xml" Id="R243c08a5c52f4d06" /><Relationship Type="http://schemas.openxmlformats.org/officeDocument/2006/relationships/slide" Target="/ppt/slides/slide7.xml" Id="R3f2ef738d3ed4d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56977c619d44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9fa7263d3241d3" /><Relationship Type="http://schemas.openxmlformats.org/officeDocument/2006/relationships/notesMaster" Target="/ppt/notesMasters/notesMaster1.xml" Id="Rdbffb73ac67e47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fb4bf917024b1d" /><Relationship Type="http://schemas.openxmlformats.org/officeDocument/2006/relationships/notesMaster" Target="/ppt/notesMasters/notesMaster1.xml" Id="Rf86e876c4f314b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89395ab0164a45" /><Relationship Type="http://schemas.openxmlformats.org/officeDocument/2006/relationships/notesMaster" Target="/ppt/notesMasters/notesMaster1.xml" Id="R8f6c8cc43f9c44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8f7fe2712e4d0c" /><Relationship Type="http://schemas.openxmlformats.org/officeDocument/2006/relationships/notesMaster" Target="/ppt/notesMasters/notesMaster1.xml" Id="Rea10547b729741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f573741d3e4e6d" /><Relationship Type="http://schemas.openxmlformats.org/officeDocument/2006/relationships/notesMaster" Target="/ppt/notesMasters/notesMaster1.xml" Id="R1a4abc87ffb74c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46f76efe1e4eb8" /><Relationship Type="http://schemas.openxmlformats.org/officeDocument/2006/relationships/notesMaster" Target="/ppt/notesMasters/notesMaster1.xml" Id="R596a60d84a8643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5e897a23d840f7" /><Relationship Type="http://schemas.openxmlformats.org/officeDocument/2006/relationships/notesMaster" Target="/ppt/notesMasters/notesMaster1.xml" Id="R320c420a8d9b4a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7e2dc785884e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2f03d6b40e41d2" /><Relationship Type="http://schemas.openxmlformats.org/officeDocument/2006/relationships/slideLayout" Target="/ppt/slideLayouts/slideLayout1.xml" Id="R28e3ccd81c9042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e3ccd81c9042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ba89a89de4cc6" /><Relationship Type="http://schemas.openxmlformats.org/officeDocument/2006/relationships/notesSlide" Target="/ppt/notesSlides/notesSlide1.xml" Id="R3f80f093b90940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0eac51bee4a77" /><Relationship Type="http://schemas.openxmlformats.org/officeDocument/2006/relationships/notesSlide" Target="/ppt/notesSlides/notesSlide2.xml" Id="Re374ad8e526a49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94653b35c4d5e" /><Relationship Type="http://schemas.openxmlformats.org/officeDocument/2006/relationships/notesSlide" Target="/ppt/notesSlides/notesSlide3.xml" Id="Re06a962c195847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003451c744155" /><Relationship Type="http://schemas.openxmlformats.org/officeDocument/2006/relationships/notesSlide" Target="/ppt/notesSlides/notesSlide4.xml" Id="R2f8b2c81b7e545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078ae289a4ec1" /><Relationship Type="http://schemas.openxmlformats.org/officeDocument/2006/relationships/image" Target="/ppt/media/image.png" Id="R4ea2a2ebd44e4123" /><Relationship Type="http://schemas.openxmlformats.org/officeDocument/2006/relationships/notesSlide" Target="/ppt/notesSlides/notesSlide5.xml" Id="R9e1301f592bf43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9d705b203423c" /><Relationship Type="http://schemas.openxmlformats.org/officeDocument/2006/relationships/notesSlide" Target="/ppt/notesSlides/notesSlide6.xml" Id="R6e767b8b39fb47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7e85231964588" /><Relationship Type="http://schemas.openxmlformats.org/officeDocument/2006/relationships/notesSlide" Target="/ppt/notesSlides/notesSlide7.xml" Id="Rf0e7641fb1824a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95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FCD136-6070-4EBD-BBAF-764A5834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-1428750"/>
            <a:ext cx="5238750" cy="952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B2B9F-993C-4371-AADA-3BFF71FF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71500"/>
            <a:ext cx="2857500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83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C1E42-24E3-443C-B10E-57E1CA46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D8F5"/>
                </a:solidFill>
              </a:defRPr>
            </a:pPr>
            <a:r>
              <a:rPr sz="900" b="1">
                <a:solidFill>
                  <a:srgbClr val="A7D8F5"/>
                </a:solidFill>
              </a:rPr>
              <a:t>STAKEHOLDER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8C9CE-21FF-4CA5-AEDD-7D927D3C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7239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 reliable schedule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when the clinic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cannot pause.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C002C-2387-467D-A333-619E5CF3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4E5F2"/>
                </a:solidFill>
              </a:defRPr>
            </a:pPr>
            <a:r>
              <a:rPr sz="1650" b="0">
                <a:solidFill>
                  <a:srgbClr val="D4E5F2"/>
                </a:solidFill>
              </a:rPr>
              <a:t>Calendar Keeper turns clinic scheduling into a resource-aware service that stays useful when infrastructure does not.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BD349-D540-4921-A10D-CB8388D9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CEF8"/>
          </a:solidFill>
          <a:ln xmlns:a="http://schemas.openxmlformats.org/drawingml/2006/main" w="0">
            <a:solidFill>
              <a:srgbClr val="83CE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9AC29-05DF-4CF6-905E-F343DB0A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D8F5"/>
                </a:solidFill>
              </a:defRPr>
            </a:pPr>
            <a:r>
              <a:rPr sz="975" b="0">
                <a:solidFill>
                  <a:srgbClr val="A7D8F5"/>
                </a:solidFill>
              </a:rPr>
              <a:t>Product strategy · Experience design · AI-assisted process</a:t>
            </a:r>
          </a:p>
        </p:txBody>
      </p:sp>
    </p:spTree>
    <p:extLst>
      <p:ext uri="{BB962C8B-B14F-4D97-AF65-F5344CB8AC3E}">
        <p14:creationId xmlns:p14="http://schemas.microsoft.com/office/powerpoint/2010/main" val="13738463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4D8275-D059-4A4F-A0A3-60A34A15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83D0"/>
                </a:solidFill>
              </a:defRPr>
            </a:pPr>
            <a:r>
              <a:rPr sz="825" b="1">
                <a:solidFill>
                  <a:srgbClr val="1183D0"/>
                </a:solidFill>
              </a:rPr>
              <a:t>CALENDAR KEEPER  /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BFBC0-0D75-4FF8-89AC-DF1127F0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7792"/>
                </a:solidFill>
              </a:defRPr>
            </a:pPr>
            <a:r>
              <a:rPr sz="900" b="1">
                <a:solidFill>
                  <a:srgbClr val="5C7792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75A47-83C2-46D5-A47A-EF9FC15E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7792"/>
                </a:solidFill>
              </a:defRPr>
            </a:pPr>
            <a:r>
              <a:rPr sz="750" b="0">
                <a:solidFill>
                  <a:srgbClr val="5C7792"/>
                </a:solidFill>
              </a:rPr>
              <a:t>The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24843-E827-4C26-8EA2-879A6065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5334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2951"/>
                </a:solidFill>
              </a:defRPr>
            </a:pPr>
            <a:r>
              <a:rPr sz="3600" b="1">
                <a:solidFill>
                  <a:srgbClr val="0E2951"/>
                </a:solidFill>
              </a:rPr>
              <a:t>A clinic appointment</a:t>
            </a:r>
          </a:p>
          <a:p xmlns:a="http://schemas.openxmlformats.org/drawingml/2006/main">
            <a:pPr algn="l">
              <a:defRPr sz="3600" b="1">
                <a:solidFill>
                  <a:srgbClr val="0E2951"/>
                </a:solidFill>
              </a:defRPr>
            </a:pPr>
            <a:r>
              <a:rPr sz="3600" b="1">
                <a:solidFill>
                  <a:srgbClr val="0E2951"/>
                </a:solidFill>
              </a:rPr>
              <a:t>is more than a time slot.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AF74F-23E2-4C82-BDC9-682EEDD7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7792"/>
                </a:solidFill>
              </a:defRPr>
            </a:pPr>
            <a:r>
              <a:rPr sz="1650" b="0">
                <a:solidFill>
                  <a:srgbClr val="5C7792"/>
                </a:solidFill>
              </a:rPr>
              <a:t>Generic calendars treat every booking alike. In a clinic, the practitioner, room, equipment, and preparation have to work together.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8E31F-181C-4D74-9DB7-1DD8FB4B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71600"/>
            <a:ext cx="1809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BC094-9F24-4D8E-9EBE-4FA71D6A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621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83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21271C-02FE-42CA-AE41-6CE0EE10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859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951"/>
                </a:solidFill>
              </a:defRPr>
            </a:pPr>
            <a:r>
              <a:rPr sz="1575" b="1">
                <a:solidFill>
                  <a:srgbClr val="0E2951"/>
                </a:solidFill>
              </a:rPr>
              <a:t>Practitioner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927841-C71E-4AD1-8D0A-DECBA090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371600"/>
            <a:ext cx="1809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BFCBB3-6171-4BFA-A1F1-235F92AC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5621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A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9CCD2-7FA6-4064-BC09-5495AC49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8859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951"/>
                </a:solidFill>
              </a:defRPr>
            </a:pPr>
            <a:r>
              <a:rPr sz="1575" b="1">
                <a:solidFill>
                  <a:srgbClr val="0E2951"/>
                </a:solidFill>
              </a:rPr>
              <a:t>Room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045331-9A6A-4DF6-BC8C-420DDA1C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05150"/>
            <a:ext cx="1809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6E4EBA-ED19-4820-AAB0-FDFB1003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956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C75864-A62C-48E2-A82B-51DF14F1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195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951"/>
                </a:solidFill>
              </a:defRPr>
            </a:pPr>
            <a:r>
              <a:rPr sz="1575" b="1">
                <a:solidFill>
                  <a:srgbClr val="0E2951"/>
                </a:solidFill>
              </a:rPr>
              <a:t>Equipment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52379-72B6-4D57-991A-FD5151D5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105150"/>
            <a:ext cx="1809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8FA333-D3D4-438F-9ECE-C172F3CF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2956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2B7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D40E02-7239-4CB2-B468-EE7F6902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6195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951"/>
                </a:solidFill>
              </a:defRPr>
            </a:pPr>
            <a:r>
              <a:rPr sz="1575" b="1">
                <a:solidFill>
                  <a:srgbClr val="0E2951"/>
                </a:solidFill>
              </a:rPr>
              <a:t>Prep 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60717F-A5A6-404C-AD02-F614263F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00300"/>
            <a:ext cx="1352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CD7"/>
          </a:solidFill>
          <a:ln xmlns:a="http://schemas.openxmlformats.org/drawingml/2006/main" w="0">
            <a:solidFill>
              <a:srgbClr val="9EBC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58ADF1-BA02-4C9C-A2B6-4C69F27F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76550"/>
            <a:ext cx="19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CD7"/>
          </a:solidFill>
          <a:ln xmlns:a="http://schemas.openxmlformats.org/drawingml/2006/main" w="0">
            <a:solidFill>
              <a:srgbClr val="9EBC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BA05D1-2E82-48CD-BB6C-1290A32B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400300"/>
            <a:ext cx="19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CD7"/>
          </a:solidFill>
          <a:ln xmlns:a="http://schemas.openxmlformats.org/drawingml/2006/main" w="0">
            <a:solidFill>
              <a:srgbClr val="9EBC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6EB648-5A2D-4EB2-ACC9-179A4AD3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149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E2951"/>
                </a:solidFill>
              </a:defRPr>
            </a:pPr>
            <a:r>
              <a:rPr sz="1650" b="1">
                <a:solidFill>
                  <a:srgbClr val="0E2951"/>
                </a:solidFill>
              </a:rPr>
              <a:t>One coordinated appointment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36C198-3878-467E-8983-5D6E229C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286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646996-93F8-44F4-8096-B1457FD7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524500"/>
            <a:ext cx="3829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5F9F"/>
                </a:solidFill>
              </a:defRPr>
            </a:pPr>
            <a:r>
              <a:rPr sz="1200" b="1">
                <a:solidFill>
                  <a:srgbClr val="0E5F9F"/>
                </a:solidFill>
              </a:rPr>
              <a:t>The opportunity: scheduling that respects real clinical dependencies.</a:t>
            </a:r>
          </a:p>
        </p:txBody>
      </p:sp>
    </p:spTree>
    <p:extLst>
      <p:ext uri="{BB962C8B-B14F-4D97-AF65-F5344CB8AC3E}">
        <p14:creationId xmlns:p14="http://schemas.microsoft.com/office/powerpoint/2010/main" val="9581969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48A322-0EBB-4EE5-B9ED-FD1F3D0A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83D0"/>
                </a:solidFill>
              </a:defRPr>
            </a:pPr>
            <a:r>
              <a:rPr sz="825" b="1">
                <a:solidFill>
                  <a:srgbClr val="1183D0"/>
                </a:solidFill>
              </a:rPr>
              <a:t>CALENDAR KEEPER  / 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F9E00-F7A5-45C4-954F-53513FF2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7792"/>
                </a:solidFill>
              </a:defRPr>
            </a:pPr>
            <a:r>
              <a:rPr sz="900" b="1">
                <a:solidFill>
                  <a:srgbClr val="5C7792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1A085-7301-48E8-B64E-42920F12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7792"/>
                </a:solidFill>
              </a:defRPr>
            </a:pPr>
            <a:r>
              <a:rPr sz="750" b="0">
                <a:solidFill>
                  <a:srgbClr val="5C7792"/>
                </a:solidFill>
              </a:rPr>
              <a:t>The strategy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D43AD-7C11-4BB9-9307-1797201A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7143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2951"/>
                </a:solidFill>
              </a:defRPr>
            </a:pPr>
            <a:r>
              <a:rPr sz="3600" b="1">
                <a:solidFill>
                  <a:srgbClr val="0E2951"/>
                </a:solidFill>
              </a:rPr>
              <a:t>One product, three layers,</a:t>
            </a:r>
          </a:p>
          <a:p xmlns:a="http://schemas.openxmlformats.org/drawingml/2006/main">
            <a:pPr algn="l">
              <a:defRPr sz="3600" b="1">
                <a:solidFill>
                  <a:srgbClr val="0E2951"/>
                </a:solidFill>
              </a:defRPr>
            </a:pPr>
            <a:r>
              <a:rPr sz="3600" b="1">
                <a:solidFill>
                  <a:srgbClr val="0E2951"/>
                </a:solidFill>
              </a:rPr>
              <a:t>two entrances.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945F4-F9EE-4523-82F2-C53B6C88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7792"/>
                </a:solidFill>
              </a:defRPr>
            </a:pPr>
            <a:r>
              <a:rPr sz="1500" b="0">
                <a:solidFill>
                  <a:srgbClr val="5C7792"/>
                </a:solidFill>
              </a:rPr>
              <a:t>Configure by practice shape—not by nationality.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6CE60-5EFB-41B6-B34F-AC14AA35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7620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EA032-E791-4E20-9090-F20E399D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7620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5920A-E66B-422E-B70F-0A6E23A1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2238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657C9"/>
                </a:solidFill>
              </a:defRPr>
            </a:pPr>
            <a:r>
              <a:rPr sz="900" b="1">
                <a:solidFill>
                  <a:srgbClr val="7657C9"/>
                </a:solidFill>
              </a:rPr>
              <a:t>RETURNING PATIENT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B49C98-7463-4045-9EAF-FFCE04E9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766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3654"/>
                </a:solidFill>
              </a:defRPr>
            </a:pPr>
            <a:r>
              <a:rPr sz="1425" b="1">
                <a:solidFill>
                  <a:srgbClr val="183654"/>
                </a:solidFill>
              </a:rPr>
              <a:t>Fast self-service for routine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5132C2-D12F-4BDE-AE31-EAC234E1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52900"/>
            <a:ext cx="719137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18621-66C1-470A-BC84-19E4F803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52900"/>
            <a:ext cx="7620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83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009048-E101-4A4E-89AC-06B03913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0"/>
            <a:ext cx="2238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83D0"/>
                </a:solidFill>
              </a:defRPr>
            </a:pPr>
            <a:r>
              <a:rPr sz="900" b="1">
                <a:solidFill>
                  <a:srgbClr val="1183D0"/>
                </a:solidFill>
              </a:rPr>
              <a:t>CALENDAR KEEPER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32A124-A6D5-4C57-8A36-0D45EC66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767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3654"/>
                </a:solidFill>
              </a:defRPr>
            </a:pPr>
            <a:r>
              <a:rPr sz="1425" b="1">
                <a:solidFill>
                  <a:srgbClr val="183654"/>
                </a:solidFill>
              </a:rPr>
              <a:t>Operational visibility and recovery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88ED4-686E-452A-ADD4-1B05D226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6762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F6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D217BA-9216-4E18-834C-A094CE77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7620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29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63F034-48CA-4799-8B00-6294B331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86350"/>
            <a:ext cx="2238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2951"/>
                </a:solidFill>
              </a:defRPr>
            </a:pPr>
            <a:r>
              <a:rPr sz="900" b="1">
                <a:solidFill>
                  <a:srgbClr val="0E2951"/>
                </a:solidFill>
              </a:rPr>
              <a:t>SHARED 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A3313-67F8-4724-BCAB-CA795E89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0768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3654"/>
                </a:solidFill>
              </a:defRPr>
            </a:pPr>
            <a:r>
              <a:rPr sz="1425" b="1">
                <a:solidFill>
                  <a:srgbClr val="183654"/>
                </a:solidFill>
              </a:rPr>
              <a:t>Resource-aware appointments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C2E502-61F6-4657-872B-3E3949D6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33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2951"/>
                </a:solidFill>
              </a:defRPr>
            </a:pPr>
            <a:r>
              <a:rPr sz="1800" b="1">
                <a:solidFill>
                  <a:srgbClr val="0E2951"/>
                </a:solidFill>
              </a:rPr>
              <a:t>Why this structure?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45B2A1-AC73-4783-81A0-4CE88550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243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83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D0FBDA-61F3-449F-B02F-D91D5A44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29050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654"/>
                </a:solidFill>
              </a:defRPr>
            </a:pPr>
            <a:r>
              <a:rPr sz="1425" b="0">
                <a:solidFill>
                  <a:srgbClr val="183654"/>
                </a:solidFill>
              </a:rPr>
              <a:t>The shared core protects the booking logic across both experiences.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3849A2-BAB7-4313-9322-B0A36B21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991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83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8B67B1-0537-413B-9D39-66D60907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95850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654"/>
                </a:solidFill>
              </a:defRPr>
            </a:pPr>
            <a:r>
              <a:rPr sz="1425" b="0">
                <a:solidFill>
                  <a:srgbClr val="183654"/>
                </a:solidFill>
              </a:rPr>
              <a:t>Resource awareness cannot be added safely after the fact.</a:t>
            </a:r>
          </a:p>
        </p:txBody>
      </p:sp>
    </p:spTree>
    <p:extLst>
      <p:ext uri="{BB962C8B-B14F-4D97-AF65-F5344CB8AC3E}">
        <p14:creationId xmlns:p14="http://schemas.microsoft.com/office/powerpoint/2010/main" val="6151420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758E6A-4B64-4DEF-B716-4AAF690B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83D0"/>
                </a:solidFill>
              </a:defRPr>
            </a:pPr>
            <a:r>
              <a:rPr sz="825" b="1">
                <a:solidFill>
                  <a:srgbClr val="1183D0"/>
                </a:solidFill>
              </a:rPr>
              <a:t>CALENDAR KEEPER  / 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94024-79C9-4DE9-9E63-5C45341A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7792"/>
                </a:solidFill>
              </a:defRPr>
            </a:pPr>
            <a:r>
              <a:rPr sz="900" b="1">
                <a:solidFill>
                  <a:srgbClr val="5C7792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DE131C-DBE6-4307-BCB3-57EBA5B8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7792"/>
                </a:solidFill>
              </a:defRPr>
            </a:pPr>
            <a:r>
              <a:rPr sz="750" b="0">
                <a:solidFill>
                  <a:srgbClr val="5C7792"/>
                </a:solidFill>
              </a:rPr>
              <a:t>Where we start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AB1CD-F86B-4F69-A950-81261F00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2951"/>
                </a:solidFill>
              </a:defRPr>
            </a:pPr>
            <a:r>
              <a:rPr sz="3600" b="1">
                <a:solidFill>
                  <a:srgbClr val="0E2951"/>
                </a:solidFill>
              </a:rPr>
              <a:t>Start where the work</a:t>
            </a:r>
          </a:p>
          <a:p xmlns:a="http://schemas.openxmlformats.org/drawingml/2006/main">
            <a:pPr algn="l">
              <a:defRPr sz="3600" b="1">
                <a:solidFill>
                  <a:srgbClr val="0E2951"/>
                </a:solidFill>
              </a:defRPr>
            </a:pPr>
            <a:r>
              <a:rPr sz="3600" b="1">
                <a:solidFill>
                  <a:srgbClr val="0E2951"/>
                </a:solidFill>
              </a:rPr>
              <a:t>compounds.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02DBF-567D-44A4-AC09-0D9D0021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462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7792"/>
                </a:solidFill>
              </a:defRPr>
            </a:pPr>
            <a:r>
              <a:rPr sz="1575" b="0">
                <a:solidFill>
                  <a:srgbClr val="5C7792"/>
                </a:solidFill>
              </a:rPr>
              <a:t>We prioritized two users whose friction is immediate, frequent, and solvable without network effects.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92922-59B3-466D-82AB-AA8C5C95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143000"/>
            <a:ext cx="4953000" cy="1924050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5B5F6-7447-4AFC-9974-6DD05015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66850"/>
            <a:ext cx="3524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83D0"/>
                </a:solidFill>
              </a:defRPr>
            </a:pPr>
            <a:r>
              <a:rPr sz="900" b="1">
                <a:solidFill>
                  <a:srgbClr val="1183D0"/>
                </a:solidFill>
              </a:rPr>
              <a:t>THE CALENDAR KEEPER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FB636-D632-4D5A-A6EA-802F86DB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09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2951"/>
                </a:solidFill>
              </a:defRPr>
            </a:pPr>
            <a:r>
              <a:rPr sz="2100" b="1">
                <a:solidFill>
                  <a:srgbClr val="0E2951"/>
                </a:solidFill>
              </a:rPr>
              <a:t>Keep the day moving.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53A46-839C-4526-A694-5A5AD1ED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0505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792"/>
                </a:solidFill>
              </a:defRPr>
            </a:pPr>
            <a:r>
              <a:rPr sz="1275" b="0">
                <a:solidFill>
                  <a:srgbClr val="5C7792"/>
                </a:solidFill>
              </a:rPr>
              <a:t>Staff need visibility into exceptions, dependencies, and the next safe action.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F6613-30FC-4CCB-8E77-9A48DAF4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29000"/>
            <a:ext cx="4953000" cy="1924050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F4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17E872-7DB1-441C-9D17-304511B4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52850"/>
            <a:ext cx="3524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657C9"/>
                </a:solidFill>
              </a:defRPr>
            </a:pPr>
            <a:r>
              <a:rPr sz="900" b="1">
                <a:solidFill>
                  <a:srgbClr val="7657C9"/>
                </a:solidFill>
              </a:rPr>
              <a:t>RETURNING PATIENT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204E5-3138-47A0-B260-73FB38EB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95750"/>
            <a:ext cx="3952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2951"/>
                </a:solidFill>
              </a:defRPr>
            </a:pPr>
            <a:r>
              <a:rPr sz="2100" b="1">
                <a:solidFill>
                  <a:srgbClr val="0E2951"/>
                </a:solidFill>
              </a:rPr>
              <a:t>Avoid the routine phone call.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EEE199-6723-42D7-99FE-9D934C72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9105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792"/>
                </a:solidFill>
              </a:defRPr>
            </a:pPr>
            <a:r>
              <a:rPr sz="1275" b="0">
                <a:solidFill>
                  <a:srgbClr val="5C7792"/>
                </a:solidFill>
              </a:rPr>
              <a:t>Patients need a focused path to rebook, cancel, and check appointment status.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6FD4C9-CD41-437C-9556-C0853D3A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654"/>
                </a:solidFill>
              </a:defRPr>
            </a:pPr>
            <a:r>
              <a:rPr sz="1425" b="0">
                <a:solidFill>
                  <a:srgbClr val="183654"/>
                </a:solidFill>
              </a:rPr>
              <a:t>We did not lead with backfill or a broad marketplace: neither creates value at the first clinic without history or waitlist liquidity.</a:t>
            </a:r>
          </a:p>
        </p:txBody>
      </p:sp>
    </p:spTree>
    <p:extLst>
      <p:ext uri="{BB962C8B-B14F-4D97-AF65-F5344CB8AC3E}">
        <p14:creationId xmlns:p14="http://schemas.microsoft.com/office/powerpoint/2010/main" val="6016116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62094F-A7BC-4E48-97CF-99023758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83D0"/>
                </a:solidFill>
              </a:defRPr>
            </a:pPr>
            <a:r>
              <a:rPr sz="825" b="1">
                <a:solidFill>
                  <a:srgbClr val="1183D0"/>
                </a:solidFill>
              </a:rPr>
              <a:t>CALENDAR KEEPER  / 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1D98A-383E-4BBE-BA3E-7C1BB431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7792"/>
                </a:solidFill>
              </a:defRPr>
            </a:pPr>
            <a:r>
              <a:rPr sz="900" b="1">
                <a:solidFill>
                  <a:srgbClr val="5C7792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6ED1F-7CA6-4E41-86C1-635D1FA4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7792"/>
                </a:solidFill>
              </a:defRPr>
            </a:pPr>
            <a:r>
              <a:rPr sz="750" b="0">
                <a:solidFill>
                  <a:srgbClr val="5C7792"/>
                </a:solidFill>
              </a:rPr>
              <a:t>The service and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A7B0E-6A39-43AB-99D0-75346016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428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2951"/>
                </a:solidFill>
              </a:defRPr>
            </a:pPr>
            <a:r>
              <a:rPr sz="3600" b="1">
                <a:solidFill>
                  <a:srgbClr val="0E2951"/>
                </a:solidFill>
              </a:rPr>
              <a:t>Make both paths</a:t>
            </a:r>
          </a:p>
          <a:p xmlns:a="http://schemas.openxmlformats.org/drawingml/2006/main">
            <a:pPr algn="l">
              <a:defRPr sz="3600" b="1">
                <a:solidFill>
                  <a:srgbClr val="0E2951"/>
                </a:solidFill>
              </a:defRPr>
            </a:pPr>
            <a:r>
              <a:rPr sz="3600" b="1">
                <a:solidFill>
                  <a:srgbClr val="0E2951"/>
                </a:solidFill>
              </a:rPr>
              <a:t>legible.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E1D31-E752-4D87-A4DC-5C038E00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7792"/>
                </a:solidFill>
              </a:defRPr>
            </a:pPr>
            <a:r>
              <a:rPr sz="1575" b="0">
                <a:solidFill>
                  <a:srgbClr val="5C7792"/>
                </a:solidFill>
              </a:rPr>
              <a:t>The same service coordinates resources. Each user sees the part that helps them act.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2a2ebd44e4123"/>
          <a:srcRect xmlns:a="http://schemas.openxmlformats.org/drawingml/2006/main" l="1052" t="0" r="10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91125" y="838200"/>
            <a:ext cx="6286500" cy="4905375"/>
          </a:xfrm>
          <a:prstGeom xmlns:a="http://schemas.openxmlformats.org/drawingml/2006/main" prst="roundRect">
            <a:avLst>
              <a:gd name="adj" fmla="val 310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40E50-35C9-4886-A1EC-FB7065CE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366712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59DDD-F0A0-41D5-849C-3D0C4956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76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951"/>
                </a:solidFill>
              </a:defRPr>
            </a:pPr>
            <a:r>
              <a:rPr sz="1575" b="1">
                <a:solidFill>
                  <a:srgbClr val="0E2951"/>
                </a:solidFill>
              </a:rPr>
              <a:t>Visible degraded mode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EFF2F-240F-4310-973B-FB3A7A63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7792"/>
                </a:solidFill>
              </a:defRPr>
            </a:pPr>
            <a:r>
              <a:rPr sz="1200" b="0">
                <a:solidFill>
                  <a:srgbClr val="5C7792"/>
                </a:solidFill>
              </a:rPr>
              <a:t>A named status and reconciliation queue replace silent desynchronization.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273C84-3A62-42B8-B642-8AD03B2E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90550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7792"/>
                </a:solidFill>
              </a:defRPr>
            </a:pPr>
            <a:r>
              <a:rPr sz="825" b="0">
                <a:solidFill>
                  <a:srgbClr val="5C7792"/>
                </a:solidFill>
              </a:rPr>
              <a:t>Prototype capture from the local Calendar Keeper concept</a:t>
            </a:r>
          </a:p>
        </p:txBody>
      </p:sp>
    </p:spTree>
    <p:extLst>
      <p:ext uri="{BB962C8B-B14F-4D97-AF65-F5344CB8AC3E}">
        <p14:creationId xmlns:p14="http://schemas.microsoft.com/office/powerpoint/2010/main" val="8547774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F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6ECD14-8D2B-4D2D-AC44-D37DB164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83D0"/>
                </a:solidFill>
              </a:defRPr>
            </a:pPr>
            <a:r>
              <a:rPr sz="825" b="1">
                <a:solidFill>
                  <a:srgbClr val="1183D0"/>
                </a:solidFill>
              </a:rPr>
              <a:t>CALENDAR KEEPER  /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51291-6D4A-4445-B720-DF645EF8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7792"/>
                </a:solidFill>
              </a:defRPr>
            </a:pPr>
            <a:r>
              <a:rPr sz="900" b="1">
                <a:solidFill>
                  <a:srgbClr val="5C7792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CB92DD-9280-48B1-BB95-A064C6C2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7792"/>
                </a:solidFill>
              </a:defRPr>
            </a:pPr>
            <a:r>
              <a:rPr sz="750" b="0">
                <a:solidFill>
                  <a:srgbClr val="5C7792"/>
                </a:solidFill>
              </a:rPr>
              <a:t>AI-assisted, human-directed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F5285-3196-459D-BE38-94EEB9BE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628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E2951"/>
                </a:solidFill>
              </a:defRPr>
            </a:pPr>
            <a:r>
              <a:rPr sz="3450" b="1">
                <a:solidFill>
                  <a:srgbClr val="0E2951"/>
                </a:solidFill>
              </a:rPr>
              <a:t>AI accelerated the work.</a:t>
            </a:r>
          </a:p>
          <a:p xmlns:a="http://schemas.openxmlformats.org/drawingml/2006/main">
            <a:pPr algn="l">
              <a:defRPr sz="3450" b="1">
                <a:solidFill>
                  <a:srgbClr val="0E2951"/>
                </a:solidFill>
              </a:defRPr>
            </a:pPr>
            <a:r>
              <a:rPr sz="3450" b="1">
                <a:solidFill>
                  <a:srgbClr val="0E2951"/>
                </a:solidFill>
              </a:rPr>
              <a:t>It did not make the</a:t>
            </a:r>
          </a:p>
          <a:p xmlns:a="http://schemas.openxmlformats.org/drawingml/2006/main">
            <a:pPr algn="l">
              <a:defRPr sz="3450" b="1">
                <a:solidFill>
                  <a:srgbClr val="0E2951"/>
                </a:solidFill>
              </a:defRPr>
            </a:pPr>
            <a:r>
              <a:rPr sz="3450" b="1">
                <a:solidFill>
                  <a:srgbClr val="0E2951"/>
                </a:solidFill>
              </a:rPr>
              <a:t>product choices.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AF225-5BD6-48E3-B8B0-DCE920E6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571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7792"/>
                </a:solidFill>
              </a:defRPr>
            </a:pPr>
            <a:r>
              <a:rPr sz="1500" b="0">
                <a:solidFill>
                  <a:srgbClr val="5C7792"/>
                </a:solidFill>
              </a:rPr>
              <a:t>I used AI as a research, synthesis, writing, and prototyping partner. Its output was treated as material to interrogate—not evidence to accept uncritically.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84DB3-CDA7-4097-B8B3-773F455A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162050"/>
            <a:ext cx="195262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158FA-D559-48AE-8B89-9F6B4513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3716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83D0"/>
                </a:solidFill>
              </a:defRPr>
            </a:pPr>
            <a:r>
              <a:rPr sz="900" b="1">
                <a:solidFill>
                  <a:srgbClr val="1183D0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18847-2A42-475D-BD21-5CC04F6A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6764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2951"/>
                </a:solidFill>
              </a:defRPr>
            </a:pPr>
            <a:r>
              <a:rPr sz="1650" b="1">
                <a:solidFill>
                  <a:srgbClr val="0E2951"/>
                </a:solidFill>
              </a:rPr>
              <a:t>Synthesize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53E5C-1A68-47BF-A823-400F921C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28825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792"/>
                </a:solidFill>
              </a:defRPr>
            </a:pPr>
            <a:r>
              <a:rPr sz="1125" b="0">
                <a:solidFill>
                  <a:srgbClr val="5C7792"/>
                </a:solidFill>
              </a:rPr>
              <a:t>Clustered competitor signals, reviews, and research notes.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446D85-263D-41D6-AC79-CCCFE91F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162050"/>
            <a:ext cx="195262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6AC778-125D-4B4A-9DF2-D83FFFB9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3716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83D0"/>
                </a:solidFill>
              </a:defRPr>
            </a:pPr>
            <a:r>
              <a:rPr sz="900" b="1">
                <a:solidFill>
                  <a:srgbClr val="1183D0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E81304-0805-42DA-8A9A-D5D15BBF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6764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2951"/>
                </a:solidFill>
              </a:defRPr>
            </a:pPr>
            <a:r>
              <a:rPr sz="1650" b="1">
                <a:solidFill>
                  <a:srgbClr val="0E2951"/>
                </a:solidFill>
              </a:rPr>
              <a:t>Expand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6F17E-397A-43E6-A70C-8C4A4A55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28825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792"/>
                </a:solidFill>
              </a:defRPr>
            </a:pPr>
            <a:r>
              <a:rPr sz="1125" b="0">
                <a:solidFill>
                  <a:srgbClr val="5C7792"/>
                </a:solidFill>
              </a:rPr>
              <a:t>Generated alternative HMW directions and edge cases.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8C1D93-2E7E-4936-B67A-AF170957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14675"/>
            <a:ext cx="195262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7B3694-F791-4766-86DF-F31719BC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242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83D0"/>
                </a:solidFill>
              </a:defRPr>
            </a:pPr>
            <a:r>
              <a:rPr sz="900" b="1">
                <a:solidFill>
                  <a:srgbClr val="1183D0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74492-47D6-49E6-8AC0-9B3127C0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290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2951"/>
                </a:solidFill>
              </a:defRPr>
            </a:pPr>
            <a:r>
              <a:rPr sz="1650" b="1">
                <a:solidFill>
                  <a:srgbClr val="0E2951"/>
                </a:solidFill>
              </a:rPr>
              <a:t>Accelerate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3FDFFD-E949-4937-8286-D5ABFD9F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814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7792"/>
                </a:solidFill>
              </a:defRPr>
            </a:pPr>
            <a:r>
              <a:rPr sz="1125" b="0">
                <a:solidFill>
                  <a:srgbClr val="5C7792"/>
                </a:solidFill>
              </a:rPr>
              <a:t>Supported copy exploration and prototype iteration.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4B252C-3AE2-48E6-8C19-C8FF6CA4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057775"/>
            <a:ext cx="4191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E29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2D2613-D8B6-4B90-AE8C-DDA1D0E4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2387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D8F5"/>
                </a:solidFill>
              </a:defRPr>
            </a:pPr>
            <a:r>
              <a:rPr sz="900" b="1">
                <a:solidFill>
                  <a:srgbClr val="A7D8F5"/>
                </a:solidFill>
              </a:rPr>
              <a:t>Designer 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93E02D-6B57-4773-B361-9678B6E9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505450"/>
            <a:ext cx="3467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Priorities, safety boundaries, and the shared-core architecture remained human calls.</a:t>
            </a:r>
          </a:p>
        </p:txBody>
      </p:sp>
    </p:spTree>
    <p:extLst>
      <p:ext uri="{BB962C8B-B14F-4D97-AF65-F5344CB8AC3E}">
        <p14:creationId xmlns:p14="http://schemas.microsoft.com/office/powerpoint/2010/main" val="9315072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295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020057-7B8D-4DBF-B26B-02FF4026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D8F5"/>
                </a:solidFill>
              </a:defRPr>
            </a:pPr>
            <a:r>
              <a:rPr sz="825" b="1">
                <a:solidFill>
                  <a:srgbClr val="A7D8F5"/>
                </a:solidFill>
              </a:rPr>
              <a:t>CALENDAR KEEPER  / 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1C233-7037-4690-9810-D341426D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D8F5"/>
                </a:solidFill>
              </a:defRPr>
            </a:pPr>
            <a:r>
              <a:rPr sz="900" b="1">
                <a:solidFill>
                  <a:srgbClr val="A7D8F5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047C3-782B-430B-8B90-1FE24E10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D8F5"/>
                </a:solidFill>
              </a:defRPr>
            </a:pPr>
            <a:r>
              <a:rPr sz="750" b="0">
                <a:solidFill>
                  <a:srgbClr val="A7D8F5"/>
                </a:solidFill>
              </a:rPr>
              <a:t>What we validate next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B366E-7C90-467F-84BF-7F5AADF6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81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A calm schedule is the outcome—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not just a polished calendar.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000AC-015D-477E-9A54-149C86F1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C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B2EA7-F166-4D1D-8614-9F62B550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384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2951"/>
                </a:solidFill>
              </a:defRPr>
            </a:pPr>
            <a:r>
              <a:rPr sz="900" b="1">
                <a:solidFill>
                  <a:srgbClr val="0E2951"/>
                </a:solidFill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4780D8-A14F-4D8E-A549-C59427B6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4E5F2"/>
                </a:solidFill>
              </a:defRPr>
            </a:pPr>
            <a:r>
              <a:rPr sz="1500" b="0">
                <a:solidFill>
                  <a:srgbClr val="D4E5F2"/>
                </a:solidFill>
              </a:rPr>
              <a:t>Can staff resolve a sync exception without training?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5375E-1A9F-42CC-B249-B58E812D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C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F7FF0-2515-4120-9F3D-E099F1A9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290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2951"/>
                </a:solidFill>
              </a:defRPr>
            </a:pPr>
            <a:r>
              <a:rPr sz="900" b="1">
                <a:solidFill>
                  <a:srgbClr val="0E2951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792A1-A0C7-4DD2-B566-DCCE360B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4E5F2"/>
                </a:solidFill>
              </a:defRPr>
            </a:pPr>
            <a:r>
              <a:rPr sz="1500" b="0">
                <a:solidFill>
                  <a:srgbClr val="D4E5F2"/>
                </a:solidFill>
              </a:rPr>
              <a:t>Do resource rules prevent rework before a booking is created?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9B861-B91D-49D7-BF42-EAE0E474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C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C1328-0B85-42C8-AC6D-D8158E6F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195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2951"/>
                </a:solidFill>
              </a:defRPr>
            </a:pPr>
            <a:r>
              <a:rPr sz="900" b="1">
                <a:solidFill>
                  <a:srgbClr val="0E2951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F40761-8196-4EC9-9551-C4FE2679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4E5F2"/>
                </a:solidFill>
              </a:defRPr>
            </a:pPr>
            <a:r>
              <a:rPr sz="1500" b="0">
                <a:solidFill>
                  <a:srgbClr val="D4E5F2"/>
                </a:solidFill>
              </a:rPr>
              <a:t>Can returning patients complete routine changes without calling?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BF890-EBAA-4804-A49A-13AD55BE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C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9257CB-2A6B-4C7A-9D2E-E9A14BD5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101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2951"/>
                </a:solidFill>
              </a:defRPr>
            </a:pPr>
            <a:r>
              <a:rPr sz="900" b="1">
                <a:solidFill>
                  <a:srgbClr val="0E2951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97EAD-4EFF-451F-9EDB-2E131C06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4E5F2"/>
                </a:solidFill>
              </a:defRPr>
            </a:pPr>
            <a:r>
              <a:rPr sz="1500" b="0">
                <a:solidFill>
                  <a:srgbClr val="D4E5F2"/>
                </a:solidFill>
              </a:rPr>
              <a:t>Does the experience scale from a team practice to a solo practitioner?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F67B08-2500-4607-9A36-3663BB89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CEF8"/>
          </a:solidFill>
          <a:ln xmlns:a="http://schemas.openxmlformats.org/drawingml/2006/main" w="0">
            <a:solidFill>
              <a:srgbClr val="83CEF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BACD06-4F67-448A-8829-D66F848D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D8F5"/>
                </a:solidFill>
              </a:defRPr>
            </a:pPr>
            <a:r>
              <a:rPr sz="1050" b="0">
                <a:solidFill>
                  <a:srgbClr val="A7D8F5"/>
                </a:solidFill>
              </a:rPr>
              <a:t>Calendar Keeper · Stakeholder presentation</a:t>
            </a:r>
          </a:p>
        </p:txBody>
      </p:sp>
    </p:spTree>
    <p:extLst>
      <p:ext uri="{BB962C8B-B14F-4D97-AF65-F5344CB8AC3E}">
        <p14:creationId xmlns:p14="http://schemas.microsoft.com/office/powerpoint/2010/main" val="20052267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2026-08-02T23:36:08.7010000Z</dcterms:created>
  <dcterms:modified xsi:type="dcterms:W3CDTF">2026-08-02T23:36:08.7010000Z</dcterms:modified>
</coreProperties>
</file>